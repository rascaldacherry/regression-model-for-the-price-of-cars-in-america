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58" r:id="rId12"/>
    <p:sldId id="259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25">
          <p15:clr>
            <a:srgbClr val="A4A3A4"/>
          </p15:clr>
        </p15:guide>
        <p15:guide id="2" pos="1209">
          <p15:clr>
            <a:srgbClr val="A4A3A4"/>
          </p15:clr>
        </p15:guide>
        <p15:guide id="3" pos="2955">
          <p15:clr>
            <a:srgbClr val="A4A3A4"/>
          </p15:clr>
        </p15:guide>
        <p15:guide id="4" pos="2071">
          <p15:clr>
            <a:srgbClr val="A4A3A4"/>
          </p15:clr>
        </p15:guide>
        <p15:guide id="5" pos="3840">
          <p15:clr>
            <a:srgbClr val="A4A3A4"/>
          </p15:clr>
        </p15:guide>
        <p15:guide id="6" pos="4702">
          <p15:clr>
            <a:srgbClr val="A4A3A4"/>
          </p15:clr>
        </p15:guide>
        <p15:guide id="7" pos="5586">
          <p15:clr>
            <a:srgbClr val="A4A3A4"/>
          </p15:clr>
        </p15:guide>
        <p15:guide id="8" pos="7333">
          <p15:clr>
            <a:srgbClr val="A4A3A4"/>
          </p15:clr>
        </p15:guide>
        <p15:guide id="9" orient="horz" pos="3952">
          <p15:clr>
            <a:srgbClr val="A4A3A4"/>
          </p15:clr>
        </p15:guide>
        <p15:guide id="10" pos="6471">
          <p15:clr>
            <a:srgbClr val="A4A3A4"/>
          </p15:clr>
        </p15:guide>
        <p15:guide id="11" orient="horz" pos="91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e407db6e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2ce407db6e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e407db6e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2ce407db6e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8238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e407db6e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2ce407db6e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4590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e407db6e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2ce407db6e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0782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e407db6e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2ce407db6e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7180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e407db6e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2ce407db6e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996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e407db6e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2ce407db6e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3166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e407db6e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2ce407db6e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9117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e407db6e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2ce407db6e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0751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ce54aea1f4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2ce54aea1f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e221863072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2e22186307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A blue circle with white 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2"/>
          <p:cNvCxnSpPr/>
          <p:nvPr/>
        </p:nvCxnSpPr>
        <p:spPr>
          <a:xfrm>
            <a:off x="6090212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" name="Google Shape;18;p2"/>
          <p:cNvCxnSpPr/>
          <p:nvPr/>
        </p:nvCxnSpPr>
        <p:spPr>
          <a:xfrm>
            <a:off x="8642581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" name="Google Shape;19;p2"/>
          <p:cNvCxnSpPr/>
          <p:nvPr/>
        </p:nvCxnSpPr>
        <p:spPr>
          <a:xfrm>
            <a:off x="11179047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2"/>
          <p:cNvSpPr txBox="1">
            <a:spLocks noGrp="1"/>
          </p:cNvSpPr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  <a:defRPr sz="4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body" idx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2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3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4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3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" name="Google Shape;28;p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" name="Google Shape;29;p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" name="Google Shape;30;p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3"/>
          <p:cNvSpPr>
            <a:spLocks noGrp="1"/>
          </p:cNvSpPr>
          <p:nvPr>
            <p:ph type="pic" idx="2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body" idx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4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body" idx="5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4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4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" name="Google Shape;41;p4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" name="Google Shape;42;p4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" name="Google Shape;43;p4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4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" name="Google Shape;45;p4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3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4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6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6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6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" name="Google Shape;57;p6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8" name="Google Shape;58;p6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6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6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3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body" idx="4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body" idx="5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sz="3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body" idx="6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7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" name="Google Shape;70;p7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" name="Google Shape;71;p7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" name="Google Shape;72;p7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7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7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body" idx="4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body" idx="5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>
            <a:spLocks noGrp="1"/>
          </p:cNvSpPr>
          <p:nvPr>
            <p:ph type="chart" idx="6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8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8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4" name="Google Shape;84;p8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5" name="Google Shape;85;p8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6" name="Google Shape;86;p8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8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8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body" idx="4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8"/>
          <p:cNvSpPr>
            <a:spLocks noGrp="1"/>
          </p:cNvSpPr>
          <p:nvPr>
            <p:ph type="chart" idx="5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8"/>
          <p:cNvSpPr txBox="1">
            <a:spLocks noGrp="1"/>
          </p:cNvSpPr>
          <p:nvPr>
            <p:ph type="body" idx="6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body" idx="7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9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8" name="Google Shape;98;p9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9" name="Google Shape;99;p9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0" name="Google Shape;100;p9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9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9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9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9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body" idx="4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body" idx="5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body" idx="6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7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8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9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0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10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5" name="Google Shape;115;p10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6" name="Google Shape;116;p10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0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0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" name="Google Shape;119;p10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0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0"/>
          <p:cNvSpPr txBox="1">
            <a:spLocks noGrp="1"/>
          </p:cNvSpPr>
          <p:nvPr>
            <p:ph type="body" idx="4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body" idx="5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11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" name="Google Shape;127;p11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" name="Google Shape;128;p11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9" name="Google Shape;129;p11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1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1" name="Google Shape;131;p11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11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1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1"/>
          <p:cNvSpPr txBox="1">
            <a:spLocks noGrp="1"/>
          </p:cNvSpPr>
          <p:nvPr>
            <p:ph type="body" idx="4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1"/>
          <p:cNvSpPr txBox="1">
            <a:spLocks noGrp="1"/>
          </p:cNvSpPr>
          <p:nvPr>
            <p:ph type="body" idx="5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1"/>
          <p:cNvSpPr txBox="1">
            <a:spLocks noGrp="1"/>
          </p:cNvSpPr>
          <p:nvPr>
            <p:ph type="body" idx="6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2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12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0" name="Google Shape;140;p12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1" name="Google Shape;141;p12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2" name="Google Shape;142;p12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12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12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2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2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12"/>
          <p:cNvSpPr txBox="1">
            <a:spLocks noGrp="1"/>
          </p:cNvSpPr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4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3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2" name="Google Shape;172;p1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3" name="Google Shape;173;p1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" name="Google Shape;174;p1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1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6" name="Google Shape;176;p13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1152661" y="2225766"/>
            <a:ext cx="9804373" cy="197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</a:pPr>
            <a:r>
              <a:rPr lang="ru-RU" dirty="0"/>
              <a:t>Построение регрессионной модели для цены автомобилей в Америке</a:t>
            </a:r>
            <a:endParaRPr dirty="0"/>
          </a:p>
        </p:txBody>
      </p:sp>
      <p:sp>
        <p:nvSpPr>
          <p:cNvPr id="184" name="Google Shape;184;p14"/>
          <p:cNvSpPr txBox="1">
            <a:spLocks noGrp="1"/>
          </p:cNvSpPr>
          <p:nvPr>
            <p:ph type="body" idx="1"/>
          </p:nvPr>
        </p:nvSpPr>
        <p:spPr>
          <a:xfrm>
            <a:off x="2074948" y="1182455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400" dirty="0"/>
              <a:t>Мировая экономика и мировая политика</a:t>
            </a:r>
            <a:endParaRPr sz="1400" dirty="0"/>
          </a:p>
        </p:txBody>
      </p:sp>
      <p:sp>
        <p:nvSpPr>
          <p:cNvPr id="186" name="Google Shape;186;p14"/>
          <p:cNvSpPr txBox="1">
            <a:spLocks noGrp="1"/>
          </p:cNvSpPr>
          <p:nvPr>
            <p:ph type="body" idx="4"/>
          </p:nvPr>
        </p:nvSpPr>
        <p:spPr>
          <a:xfrm>
            <a:off x="1027967" y="5343729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00"/>
              <a:buFont typeface="Arial"/>
              <a:buNone/>
            </a:pPr>
            <a:r>
              <a:rPr lang="ru-RU" sz="1800" b="1" dirty="0"/>
              <a:t>Подготовил:</a:t>
            </a:r>
            <a:r>
              <a:rPr lang="ru-RU" sz="1800" dirty="0"/>
              <a:t> Васясин Дмитрий Алексеевич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>
            <a:spLocks noGrp="1"/>
          </p:cNvSpPr>
          <p:nvPr>
            <p:ph type="body" idx="3"/>
          </p:nvPr>
        </p:nvSpPr>
        <p:spPr>
          <a:xfrm>
            <a:off x="1164710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1600"/>
            </a:pPr>
            <a:r>
              <a:rPr lang="ru-RU" dirty="0"/>
              <a:t>Мировая экономика и мировая политика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2CE83D-2E4C-47BB-A463-93512F3A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09" y="1350385"/>
            <a:ext cx="5245560" cy="777025"/>
          </a:xfrm>
        </p:spPr>
        <p:txBody>
          <a:bodyPr/>
          <a:lstStyle/>
          <a:p>
            <a:r>
              <a:rPr lang="ru-RU" dirty="0"/>
              <a:t>Описательные статистики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B5E5C8-EE33-4356-BC4A-5EE23DA822C3}"/>
              </a:ext>
            </a:extLst>
          </p:cNvPr>
          <p:cNvSpPr txBox="1"/>
          <p:nvPr/>
        </p:nvSpPr>
        <p:spPr>
          <a:xfrm>
            <a:off x="410335" y="1738897"/>
            <a:ext cx="609765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</a:t>
            </a:r>
            <a:r>
              <a:rPr lang="ru-RU" b="1" dirty="0" err="1"/>
              <a:t>ymboling</a:t>
            </a:r>
            <a:r>
              <a:rPr lang="ru-RU" b="1" dirty="0"/>
              <a:t> :</a:t>
            </a:r>
          </a:p>
          <a:p>
            <a:r>
              <a:rPr lang="ru-RU" dirty="0"/>
              <a:t>Математическое ожидание: 0.88, </a:t>
            </a:r>
          </a:p>
          <a:p>
            <a:r>
              <a:rPr lang="ru-RU" dirty="0"/>
              <a:t>(Дисперсия, </a:t>
            </a:r>
            <a:r>
              <a:rPr lang="ru-RU" dirty="0" err="1"/>
              <a:t>станартное</a:t>
            </a:r>
            <a:r>
              <a:rPr lang="ru-RU" dirty="0"/>
              <a:t> отклонение): (1.65 , 1.28</a:t>
            </a:r>
            <a:r>
              <a:rPr lang="en-US" dirty="0"/>
              <a:t>)</a:t>
            </a:r>
            <a:r>
              <a:rPr lang="ru-RU" dirty="0"/>
              <a:t>. </a:t>
            </a:r>
          </a:p>
          <a:p>
            <a:r>
              <a:rPr lang="ru-RU" dirty="0"/>
              <a:t>Медиана: 1, то есть более менее равномерно </a:t>
            </a:r>
            <a:r>
              <a:rPr lang="ru-RU" dirty="0" err="1"/>
              <a:t>распределенно</a:t>
            </a:r>
            <a:r>
              <a:rPr lang="ru-RU" dirty="0"/>
              <a:t> </a:t>
            </a:r>
          </a:p>
          <a:p>
            <a:r>
              <a:rPr lang="en-US" b="1" dirty="0"/>
              <a:t>W</a:t>
            </a:r>
            <a:r>
              <a:rPr lang="ru-RU" b="1" dirty="0" err="1"/>
              <a:t>heelbase</a:t>
            </a:r>
            <a:r>
              <a:rPr lang="ru-RU" b="1" dirty="0"/>
              <a:t>: </a:t>
            </a:r>
            <a:endParaRPr lang="en-US" b="1" dirty="0"/>
          </a:p>
          <a:p>
            <a:r>
              <a:rPr lang="ru-RU" dirty="0"/>
              <a:t>Математическое ожидание: 98.52, </a:t>
            </a:r>
          </a:p>
          <a:p>
            <a:r>
              <a:rPr lang="ru-RU" dirty="0"/>
              <a:t>(Дисперсия, </a:t>
            </a:r>
            <a:r>
              <a:rPr lang="ru-RU" dirty="0" err="1"/>
              <a:t>станартное</a:t>
            </a:r>
            <a:r>
              <a:rPr lang="ru-RU" dirty="0"/>
              <a:t> отклонение</a:t>
            </a:r>
            <a:r>
              <a:rPr lang="en-US" dirty="0"/>
              <a:t>):</a:t>
            </a:r>
            <a:r>
              <a:rPr lang="ru-RU" dirty="0"/>
              <a:t> (34.5, 1.65)</a:t>
            </a:r>
          </a:p>
          <a:p>
            <a:r>
              <a:rPr lang="ru-RU" dirty="0"/>
              <a:t>Медиана: 96.95    </a:t>
            </a:r>
          </a:p>
          <a:p>
            <a:endParaRPr lang="en-US" dirty="0"/>
          </a:p>
          <a:p>
            <a:r>
              <a:rPr lang="en-US" b="1" dirty="0"/>
              <a:t>P</a:t>
            </a:r>
            <a:r>
              <a:rPr lang="ru-RU" b="1" dirty="0" err="1"/>
              <a:t>rice</a:t>
            </a:r>
            <a:endParaRPr lang="ru-RU" b="1" dirty="0"/>
          </a:p>
          <a:p>
            <a:r>
              <a:rPr lang="ru-RU" dirty="0"/>
              <a:t>Математическое ожидание: 13126.69.</a:t>
            </a:r>
          </a:p>
          <a:p>
            <a:r>
              <a:rPr lang="ru-RU" dirty="0"/>
              <a:t>Дисперсия, стандартное отклонение): (65925145.43 , 8119.43</a:t>
            </a:r>
            <a:r>
              <a:rPr lang="en-US" dirty="0"/>
              <a:t>)</a:t>
            </a:r>
          </a:p>
          <a:p>
            <a:r>
              <a:rPr lang="ru-RU" dirty="0"/>
              <a:t>Медиана: 19984</a:t>
            </a:r>
            <a:endParaRPr lang="en-US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9ECF6D6-8373-4BDC-A72E-6105B0CA8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09" y="4631997"/>
            <a:ext cx="7656785" cy="19510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5F1B80E-3769-4D34-A34C-6A7BDF5A2DDA}"/>
              </a:ext>
            </a:extLst>
          </p:cNvPr>
          <p:cNvSpPr txBox="1"/>
          <p:nvPr/>
        </p:nvSpPr>
        <p:spPr>
          <a:xfrm>
            <a:off x="6283492" y="1994709"/>
            <a:ext cx="52455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dk1"/>
                </a:solidFill>
              </a:rPr>
              <a:t>Почти все признаки имеют что то похожее на нормальное распределение, что очень хорошо для построение нашей модели.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3F867-8CEC-9A8D-DC3E-F9E2AE8FE5F0}"/>
              </a:ext>
            </a:extLst>
          </p:cNvPr>
          <p:cNvSpPr txBox="1"/>
          <p:nvPr/>
        </p:nvSpPr>
        <p:spPr>
          <a:xfrm>
            <a:off x="3411058" y="471805"/>
            <a:ext cx="22571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dk1"/>
                </a:solidFill>
              </a:rPr>
              <a:t>Построение регрессионной модели для цены автомобилей в Америке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B09BB-9B21-019E-2C0B-B65F64F5F961}"/>
              </a:ext>
            </a:extLst>
          </p:cNvPr>
          <p:cNvSpPr txBox="1"/>
          <p:nvPr/>
        </p:nvSpPr>
        <p:spPr>
          <a:xfrm>
            <a:off x="6206811" y="502583"/>
            <a:ext cx="22571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dk1"/>
                </a:solidFill>
              </a:rPr>
              <a:t>Статистика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1600"/>
            </a:pPr>
            <a:r>
              <a:rPr lang="ru-RU" dirty="0"/>
              <a:t>Мировая экономика и мировая политика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2CE83D-2E4C-47BB-A463-93512F3A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09" y="1350385"/>
            <a:ext cx="5245560" cy="777025"/>
          </a:xfrm>
        </p:spPr>
        <p:txBody>
          <a:bodyPr/>
          <a:lstStyle/>
          <a:p>
            <a:r>
              <a:rPr lang="ru-RU" dirty="0"/>
              <a:t>Гипотезы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F1B80E-3769-4D34-A34C-6A7BDF5A2DDA}"/>
              </a:ext>
            </a:extLst>
          </p:cNvPr>
          <p:cNvSpPr txBox="1"/>
          <p:nvPr/>
        </p:nvSpPr>
        <p:spPr>
          <a:xfrm>
            <a:off x="489535" y="2176046"/>
            <a:ext cx="716384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dk1"/>
                </a:solidFill>
              </a:rPr>
              <a:t>1. Размер двигателя не влияет на цену автомобиля (отсутствует корреляция между размером двигателя и ценой)</a:t>
            </a:r>
          </a:p>
          <a:p>
            <a:r>
              <a:rPr lang="ru-RU" sz="2000" dirty="0">
                <a:solidFill>
                  <a:schemeClr val="dk1"/>
                </a:solidFill>
              </a:rPr>
              <a:t>2. Автомобили с полным приводом имеют более высокую максимальную скорость, чем автомобили с передним или задним приводом.</a:t>
            </a:r>
          </a:p>
          <a:p>
            <a:r>
              <a:rPr lang="ru-RU" sz="2000" dirty="0">
                <a:solidFill>
                  <a:schemeClr val="dk1"/>
                </a:solidFill>
              </a:rPr>
              <a:t>3. С увеличением объема двигателя расход топлива увеличивается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AFA305-B7E1-8BEF-FB20-43F27515B64F}"/>
              </a:ext>
            </a:extLst>
          </p:cNvPr>
          <p:cNvSpPr txBox="1"/>
          <p:nvPr/>
        </p:nvSpPr>
        <p:spPr>
          <a:xfrm>
            <a:off x="3411058" y="471805"/>
            <a:ext cx="22571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dk1"/>
                </a:solidFill>
              </a:rPr>
              <a:t>Построение регрессионной модели для цены автомобилей в Америке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E65422-05AF-4DFE-179A-51F113E6A972}"/>
              </a:ext>
            </a:extLst>
          </p:cNvPr>
          <p:cNvSpPr txBox="1"/>
          <p:nvPr/>
        </p:nvSpPr>
        <p:spPr>
          <a:xfrm>
            <a:off x="6164317" y="471805"/>
            <a:ext cx="8408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dk1"/>
                </a:solidFill>
              </a:rPr>
              <a:t>Гипотезы</a:t>
            </a:r>
          </a:p>
        </p:txBody>
      </p:sp>
    </p:spTree>
    <p:extLst>
      <p:ext uri="{BB962C8B-B14F-4D97-AF65-F5344CB8AC3E}">
        <p14:creationId xmlns:p14="http://schemas.microsoft.com/office/powerpoint/2010/main" val="314493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1600"/>
            </a:pPr>
            <a:r>
              <a:rPr lang="ru-RU" dirty="0"/>
              <a:t>Мировая экономика и мировая политика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2CE83D-2E4C-47BB-A463-93512F3A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09" y="1350385"/>
            <a:ext cx="5245560" cy="777025"/>
          </a:xfrm>
        </p:spPr>
        <p:txBody>
          <a:bodyPr/>
          <a:lstStyle/>
          <a:p>
            <a:r>
              <a:rPr lang="ru-RU" dirty="0"/>
              <a:t>Корреляция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E697428-8BDB-4BEA-82BC-85B4D040C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97" y="1054438"/>
            <a:ext cx="5995131" cy="58035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FC7BE3-4F0A-41CC-BCFE-F39265323FC6}"/>
              </a:ext>
            </a:extLst>
          </p:cNvPr>
          <p:cNvSpPr txBox="1"/>
          <p:nvPr/>
        </p:nvSpPr>
        <p:spPr>
          <a:xfrm>
            <a:off x="412166" y="2044005"/>
            <a:ext cx="35823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dk1"/>
                </a:solidFill>
              </a:rPr>
              <a:t>Говоря о корреляции между ценой автомобиля и другими характеристиками, можно выделить высоку</a:t>
            </a:r>
            <a:r>
              <a:rPr lang="ru-RU" dirty="0">
                <a:solidFill>
                  <a:schemeClr val="dk1"/>
                </a:solidFill>
              </a:rPr>
              <a:t>ю связь</a:t>
            </a:r>
            <a:r>
              <a:rPr lang="ru-RU" sz="1400" dirty="0">
                <a:solidFill>
                  <a:schemeClr val="dk1"/>
                </a:solidFill>
              </a:rPr>
              <a:t> с габаритами автомобиля, объемом двигателя, количеством лошадей</a:t>
            </a:r>
            <a:r>
              <a:rPr lang="ru-RU" dirty="0">
                <a:solidFill>
                  <a:schemeClr val="dk1"/>
                </a:solidFill>
              </a:rPr>
              <a:t> и расходом топлива. В свою очередь, размеры автомобиля имеют плотную связь с объемом двигателя, а также между собой. </a:t>
            </a:r>
            <a:endParaRPr lang="ru-RU" sz="1400" dirty="0">
              <a:solidFill>
                <a:schemeClr val="dk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1E1B8-B05A-AF53-484B-2B51227B8924}"/>
              </a:ext>
            </a:extLst>
          </p:cNvPr>
          <p:cNvSpPr txBox="1"/>
          <p:nvPr/>
        </p:nvSpPr>
        <p:spPr>
          <a:xfrm>
            <a:off x="3411058" y="471805"/>
            <a:ext cx="22571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dk1"/>
                </a:solidFill>
              </a:rPr>
              <a:t>Построение регрессионной модели для цены автомобилей в Америке</a:t>
            </a:r>
          </a:p>
        </p:txBody>
      </p:sp>
    </p:spTree>
    <p:extLst>
      <p:ext uri="{BB962C8B-B14F-4D97-AF65-F5344CB8AC3E}">
        <p14:creationId xmlns:p14="http://schemas.microsoft.com/office/powerpoint/2010/main" val="3485878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1600"/>
            </a:pPr>
            <a:r>
              <a:rPr lang="ru-RU" dirty="0"/>
              <a:t>Мировая экономика и мировая политика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2CE83D-2E4C-47BB-A463-93512F3A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09" y="1350385"/>
            <a:ext cx="5245560" cy="777025"/>
          </a:xfrm>
        </p:spPr>
        <p:txBody>
          <a:bodyPr/>
          <a:lstStyle/>
          <a:p>
            <a:r>
              <a:rPr lang="ru-RU" dirty="0"/>
              <a:t>Визуализация данных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BE2AFF3-6FAC-417A-99A9-58A2973C56EA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224339" y="514891"/>
            <a:ext cx="2070100" cy="408109"/>
          </a:xfrm>
        </p:spPr>
        <p:txBody>
          <a:bodyPr/>
          <a:lstStyle/>
          <a:p>
            <a:r>
              <a:rPr lang="ru-RU" dirty="0"/>
              <a:t>Визуализация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D9B3CB-87A8-47A7-9D55-ECFB1A898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17" y="2127410"/>
            <a:ext cx="5353050" cy="433387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13CD1D4-3030-4E3E-82BB-16326B780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339" y="2127410"/>
            <a:ext cx="5362575" cy="43338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D81A3A-3439-39A7-F568-D92779C750F3}"/>
              </a:ext>
            </a:extLst>
          </p:cNvPr>
          <p:cNvSpPr txBox="1"/>
          <p:nvPr/>
        </p:nvSpPr>
        <p:spPr>
          <a:xfrm>
            <a:off x="3411058" y="471805"/>
            <a:ext cx="22571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dk1"/>
                </a:solidFill>
              </a:rPr>
              <a:t>Построение регрессионной модели для цены автомобилей в Америке</a:t>
            </a:r>
          </a:p>
        </p:txBody>
      </p:sp>
    </p:spTree>
    <p:extLst>
      <p:ext uri="{BB962C8B-B14F-4D97-AF65-F5344CB8AC3E}">
        <p14:creationId xmlns:p14="http://schemas.microsoft.com/office/powerpoint/2010/main" val="581826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1600"/>
            </a:pPr>
            <a:r>
              <a:rPr lang="ru-RU" dirty="0"/>
              <a:t>Мировая экономика и мировая политика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2CE83D-2E4C-47BB-A463-93512F3A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09" y="1350385"/>
            <a:ext cx="3626618" cy="777025"/>
          </a:xfrm>
        </p:spPr>
        <p:txBody>
          <a:bodyPr/>
          <a:lstStyle/>
          <a:p>
            <a:r>
              <a:rPr lang="ru-RU" dirty="0"/>
              <a:t>Гистограммы некоторых параметров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BE2AFF3-6FAC-417A-99A9-58A2973C56EA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48972" y="464512"/>
            <a:ext cx="2070100" cy="408109"/>
          </a:xfrm>
        </p:spPr>
        <p:txBody>
          <a:bodyPr/>
          <a:lstStyle/>
          <a:p>
            <a:r>
              <a:rPr lang="ru-RU" dirty="0"/>
              <a:t>Визуализация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0C70A9-57F0-4ED1-B210-98E07A394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231" y="956704"/>
            <a:ext cx="6999084" cy="58227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5CABA9-0E88-93BE-A8D3-C2F04581F075}"/>
              </a:ext>
            </a:extLst>
          </p:cNvPr>
          <p:cNvSpPr txBox="1"/>
          <p:nvPr/>
        </p:nvSpPr>
        <p:spPr>
          <a:xfrm>
            <a:off x="3411058" y="471805"/>
            <a:ext cx="22571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dk1"/>
                </a:solidFill>
              </a:rPr>
              <a:t>Построение регрессионной модели для цены автомобилей в Америке</a:t>
            </a:r>
          </a:p>
        </p:txBody>
      </p:sp>
    </p:spTree>
    <p:extLst>
      <p:ext uri="{BB962C8B-B14F-4D97-AF65-F5344CB8AC3E}">
        <p14:creationId xmlns:p14="http://schemas.microsoft.com/office/powerpoint/2010/main" val="2569610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1600"/>
            </a:pPr>
            <a:r>
              <a:rPr lang="ru-RU" dirty="0"/>
              <a:t>Мировая экономика и мировая политика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2CE83D-2E4C-47BB-A463-93512F3A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63" y="1199300"/>
            <a:ext cx="3527351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 качественными данными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BE2AFF3-6FAC-417A-99A9-58A2973C56EA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296956" y="480402"/>
            <a:ext cx="2070100" cy="408109"/>
          </a:xfrm>
        </p:spPr>
        <p:txBody>
          <a:bodyPr/>
          <a:lstStyle/>
          <a:p>
            <a:r>
              <a:rPr lang="ru-RU" dirty="0"/>
              <a:t>Визуализация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776395-D695-4361-A66C-A9148776F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979" y="1087333"/>
            <a:ext cx="6693509" cy="57298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BF4A9B-547C-E42B-5D26-8600CB880823}"/>
              </a:ext>
            </a:extLst>
          </p:cNvPr>
          <p:cNvSpPr txBox="1"/>
          <p:nvPr/>
        </p:nvSpPr>
        <p:spPr>
          <a:xfrm>
            <a:off x="3411058" y="471805"/>
            <a:ext cx="22571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dk1"/>
                </a:solidFill>
              </a:rPr>
              <a:t>Построение регрессионной модели для цены автомобилей в Америке</a:t>
            </a:r>
          </a:p>
        </p:txBody>
      </p:sp>
    </p:spTree>
    <p:extLst>
      <p:ext uri="{BB962C8B-B14F-4D97-AF65-F5344CB8AC3E}">
        <p14:creationId xmlns:p14="http://schemas.microsoft.com/office/powerpoint/2010/main" val="1577360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1600"/>
            </a:pPr>
            <a:r>
              <a:rPr lang="ru-RU" dirty="0"/>
              <a:t>Мировая экономика и мировая политика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2CE83D-2E4C-47BB-A463-93512F3A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63" y="1199300"/>
            <a:ext cx="3527351" cy="777025"/>
          </a:xfrm>
        </p:spPr>
        <p:txBody>
          <a:bodyPr>
            <a:normAutofit/>
          </a:bodyPr>
          <a:lstStyle/>
          <a:p>
            <a:r>
              <a:rPr lang="ru-RU" dirty="0"/>
              <a:t>Построение регрессии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BE2AFF3-6FAC-417A-99A9-58A2973C56EA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096000" y="538347"/>
            <a:ext cx="2070100" cy="408109"/>
          </a:xfrm>
        </p:spPr>
        <p:txBody>
          <a:bodyPr/>
          <a:lstStyle/>
          <a:p>
            <a:r>
              <a:rPr lang="ru-RU" dirty="0"/>
              <a:t>Визуализация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2F0D5F-973C-4708-9B70-017FBC4FCAED}"/>
              </a:ext>
            </a:extLst>
          </p:cNvPr>
          <p:cNvSpPr txBox="1"/>
          <p:nvPr/>
        </p:nvSpPr>
        <p:spPr>
          <a:xfrm>
            <a:off x="548824" y="1663274"/>
            <a:ext cx="27959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800" dirty="0" err="1">
                <a:solidFill>
                  <a:schemeClr val="dk1"/>
                </a:solidFill>
              </a:rPr>
              <a:t>Symboling</a:t>
            </a:r>
            <a:endParaRPr lang="ru-RU" sz="1800" dirty="0">
              <a:solidFill>
                <a:schemeClr val="dk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dk1"/>
                </a:solidFill>
              </a:rPr>
              <a:t>wheelbase</a:t>
            </a:r>
          </a:p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dk1"/>
                </a:solidFill>
              </a:rPr>
              <a:t>drivewheel_num_4wd</a:t>
            </a:r>
          </a:p>
          <a:p>
            <a:pPr marL="285750" indent="-285750">
              <a:buFontTx/>
              <a:buChar char="-"/>
            </a:pPr>
            <a:r>
              <a:rPr lang="en-US" sz="1800" dirty="0" err="1">
                <a:solidFill>
                  <a:schemeClr val="dk1"/>
                </a:solidFill>
              </a:rPr>
              <a:t>drivewheel_num_fwd</a:t>
            </a:r>
            <a:endParaRPr lang="en-US" sz="1800" dirty="0">
              <a:solidFill>
                <a:schemeClr val="dk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800" dirty="0" err="1">
                <a:solidFill>
                  <a:schemeClr val="dk1"/>
                </a:solidFill>
              </a:rPr>
              <a:t>drivewheel_num_rwd</a:t>
            </a:r>
            <a:endParaRPr lang="en-US" sz="1800" dirty="0">
              <a:solidFill>
                <a:schemeClr val="dk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800" dirty="0" err="1">
                <a:solidFill>
                  <a:schemeClr val="dk1"/>
                </a:solidFill>
              </a:rPr>
              <a:t>enginetype_num_dohc</a:t>
            </a:r>
            <a:endParaRPr lang="en-US" sz="1800" dirty="0">
              <a:solidFill>
                <a:schemeClr val="dk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800" dirty="0" err="1">
                <a:solidFill>
                  <a:schemeClr val="dk1"/>
                </a:solidFill>
              </a:rPr>
              <a:t>enginetype_num_l</a:t>
            </a:r>
            <a:endParaRPr lang="en-US" sz="1800" dirty="0">
              <a:solidFill>
                <a:schemeClr val="dk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800" dirty="0" err="1">
                <a:solidFill>
                  <a:schemeClr val="dk1"/>
                </a:solidFill>
              </a:rPr>
              <a:t>enginetype_num_ohc</a:t>
            </a:r>
            <a:endParaRPr lang="en-US" sz="1800" dirty="0">
              <a:solidFill>
                <a:schemeClr val="dk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dk1"/>
                </a:solidFill>
              </a:rPr>
              <a:t>fuelsystem_num_2bbl</a:t>
            </a:r>
          </a:p>
          <a:p>
            <a:pPr marL="285750" indent="-285750">
              <a:buFontTx/>
              <a:buChar char="-"/>
            </a:pPr>
            <a:endParaRPr lang="en-US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42B593-3B7C-40C4-9F4C-839F133E5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870" y="1299410"/>
            <a:ext cx="4660306" cy="52169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3636C61-D0F4-47E8-8875-B2C71BF226E2}"/>
              </a:ext>
            </a:extLst>
          </p:cNvPr>
          <p:cNvSpPr txBox="1"/>
          <p:nvPr/>
        </p:nvSpPr>
        <p:spPr>
          <a:xfrm>
            <a:off x="459054" y="4366038"/>
            <a:ext cx="57714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dk1"/>
                </a:solidFill>
              </a:rPr>
              <a:t>R-</a:t>
            </a:r>
            <a:r>
              <a:rPr lang="ru-RU" sz="1800" dirty="0" err="1">
                <a:solidFill>
                  <a:schemeClr val="dk1"/>
                </a:solidFill>
              </a:rPr>
              <a:t>squared</a:t>
            </a:r>
            <a:r>
              <a:rPr lang="ru-RU" sz="1800" dirty="0">
                <a:solidFill>
                  <a:schemeClr val="dk1"/>
                </a:solidFill>
              </a:rPr>
              <a:t>: Значение 0.709 указывает на то, что модель объясняет примерно 70.9% вариации зависимой переменной</a:t>
            </a:r>
          </a:p>
          <a:p>
            <a:r>
              <a:rPr lang="ru-RU" sz="1800" dirty="0">
                <a:solidFill>
                  <a:schemeClr val="dk1"/>
                </a:solidFill>
              </a:rPr>
              <a:t>F-</a:t>
            </a:r>
            <a:r>
              <a:rPr lang="ru-RU" sz="1800" dirty="0" err="1">
                <a:solidFill>
                  <a:schemeClr val="dk1"/>
                </a:solidFill>
              </a:rPr>
              <a:t>statistic</a:t>
            </a:r>
            <a:r>
              <a:rPr lang="ru-RU" sz="1800" dirty="0">
                <a:solidFill>
                  <a:schemeClr val="dk1"/>
                </a:solidFill>
              </a:rPr>
              <a:t>: Значение F-статистики равно 42.94 с p-</a:t>
            </a:r>
            <a:r>
              <a:rPr lang="ru-RU" sz="1800" dirty="0" err="1">
                <a:solidFill>
                  <a:schemeClr val="dk1"/>
                </a:solidFill>
              </a:rPr>
              <a:t>value</a:t>
            </a:r>
            <a:r>
              <a:rPr lang="ru-RU" sz="1800" dirty="0">
                <a:solidFill>
                  <a:schemeClr val="dk1"/>
                </a:solidFill>
              </a:rPr>
              <a:t> 3.69e-34, что говорит о том, что модель в целом статистически значима</a:t>
            </a:r>
          </a:p>
          <a:p>
            <a:r>
              <a:rPr lang="en-US" sz="1800" dirty="0">
                <a:solidFill>
                  <a:schemeClr val="dk1"/>
                </a:solidFill>
              </a:rPr>
              <a:t>P-value: </a:t>
            </a:r>
            <a:r>
              <a:rPr lang="ru-RU" sz="1800" dirty="0">
                <a:solidFill>
                  <a:schemeClr val="dk1"/>
                </a:solidFill>
              </a:rPr>
              <a:t>приближен к 0, что подтверждает значимость параметров</a:t>
            </a:r>
          </a:p>
          <a:p>
            <a:endParaRPr lang="en-US" sz="1800" dirty="0">
              <a:solidFill>
                <a:schemeClr val="dk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4A121F-3B37-C150-79BA-279D940966DB}"/>
              </a:ext>
            </a:extLst>
          </p:cNvPr>
          <p:cNvSpPr txBox="1"/>
          <p:nvPr/>
        </p:nvSpPr>
        <p:spPr>
          <a:xfrm>
            <a:off x="3411058" y="471805"/>
            <a:ext cx="22571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dk1"/>
                </a:solidFill>
              </a:rPr>
              <a:t>Построение регрессионной модели для цены автомобилей в Америке</a:t>
            </a:r>
          </a:p>
        </p:txBody>
      </p:sp>
    </p:spTree>
    <p:extLst>
      <p:ext uri="{BB962C8B-B14F-4D97-AF65-F5344CB8AC3E}">
        <p14:creationId xmlns:p14="http://schemas.microsoft.com/office/powerpoint/2010/main" val="2179365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1600"/>
            </a:pPr>
            <a:r>
              <a:rPr lang="ru-RU" dirty="0"/>
              <a:t>Мировая экономика и мировая политика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2CE83D-2E4C-47BB-A463-93512F3A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63" y="1199300"/>
            <a:ext cx="4818653" cy="777025"/>
          </a:xfrm>
        </p:spPr>
        <p:txBody>
          <a:bodyPr>
            <a:normAutofit/>
          </a:bodyPr>
          <a:lstStyle/>
          <a:p>
            <a:r>
              <a:rPr lang="ru-RU" dirty="0"/>
              <a:t>Проверка качества модели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BE2AFF3-6FAC-417A-99A9-58A2973C56EA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6818" y="490913"/>
            <a:ext cx="2070100" cy="408109"/>
          </a:xfrm>
        </p:spPr>
        <p:txBody>
          <a:bodyPr/>
          <a:lstStyle/>
          <a:p>
            <a:r>
              <a:rPr lang="ru-RU" dirty="0"/>
              <a:t>Визуализация данных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09AEE-3F68-4C6A-BFA3-7E41D8E7106A}"/>
              </a:ext>
            </a:extLst>
          </p:cNvPr>
          <p:cNvSpPr txBox="1"/>
          <p:nvPr/>
        </p:nvSpPr>
        <p:spPr>
          <a:xfrm>
            <a:off x="482658" y="1822436"/>
            <a:ext cx="2421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 err="1">
                <a:solidFill>
                  <a:schemeClr val="dk1"/>
                </a:solidFill>
              </a:rPr>
              <a:t>Мультиколлиниарность</a:t>
            </a:r>
            <a:endParaRPr lang="ru-RU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DD5E13-A77A-4157-A594-43C8DFD7015A}"/>
              </a:ext>
            </a:extLst>
          </p:cNvPr>
          <p:cNvSpPr txBox="1"/>
          <p:nvPr/>
        </p:nvSpPr>
        <p:spPr>
          <a:xfrm>
            <a:off x="5055327" y="1851484"/>
            <a:ext cx="2421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 err="1">
                <a:solidFill>
                  <a:schemeClr val="dk1"/>
                </a:solidFill>
              </a:rPr>
              <a:t>Гетероскедастичность</a:t>
            </a:r>
            <a:r>
              <a:rPr lang="ru-RU" sz="1400" b="1" dirty="0">
                <a:solidFill>
                  <a:schemeClr val="dk1"/>
                </a:solidFill>
              </a:rPr>
              <a:t> </a:t>
            </a:r>
            <a:endParaRPr lang="ru-RU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0DB3F-4449-4B44-B374-0DF653593BEC}"/>
              </a:ext>
            </a:extLst>
          </p:cNvPr>
          <p:cNvSpPr txBox="1"/>
          <p:nvPr/>
        </p:nvSpPr>
        <p:spPr>
          <a:xfrm>
            <a:off x="8984974" y="1822435"/>
            <a:ext cx="2257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dk1"/>
                </a:solidFill>
              </a:rPr>
              <a:t>Автокорреляция</a:t>
            </a:r>
            <a:endParaRPr lang="ru-RU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AED451-F580-41B6-85A7-E72EC6BEA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16" y="3456921"/>
            <a:ext cx="1803732" cy="21293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DCEEA1-9F22-4E9C-B0A4-7C6038AC30E5}"/>
              </a:ext>
            </a:extLst>
          </p:cNvPr>
          <p:cNvSpPr txBox="1"/>
          <p:nvPr/>
        </p:nvSpPr>
        <p:spPr>
          <a:xfrm>
            <a:off x="179216" y="2218796"/>
            <a:ext cx="37257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dk1"/>
                </a:solidFill>
              </a:rPr>
              <a:t>Видно, что значения drivewheel_num_4wd, </a:t>
            </a:r>
            <a:r>
              <a:rPr lang="ru-RU" dirty="0" err="1">
                <a:solidFill>
                  <a:schemeClr val="dk1"/>
                </a:solidFill>
              </a:rPr>
              <a:t>drivewheel_num_fwd</a:t>
            </a:r>
            <a:r>
              <a:rPr lang="ru-RU" dirty="0">
                <a:solidFill>
                  <a:schemeClr val="dk1"/>
                </a:solidFill>
              </a:rPr>
              <a:t>, </a:t>
            </a:r>
            <a:r>
              <a:rPr lang="ru-RU" dirty="0" err="1">
                <a:solidFill>
                  <a:schemeClr val="dk1"/>
                </a:solidFill>
              </a:rPr>
              <a:t>drivewheel_num_rwd</a:t>
            </a:r>
            <a:r>
              <a:rPr lang="ru-RU" dirty="0">
                <a:solidFill>
                  <a:schemeClr val="dk1"/>
                </a:solidFill>
              </a:rPr>
              <a:t> = </a:t>
            </a:r>
            <a:r>
              <a:rPr lang="ru-RU" dirty="0" err="1">
                <a:solidFill>
                  <a:schemeClr val="dk1"/>
                </a:solidFill>
              </a:rPr>
              <a:t>inf</a:t>
            </a:r>
            <a:r>
              <a:rPr lang="ru-RU" dirty="0">
                <a:solidFill>
                  <a:schemeClr val="dk1"/>
                </a:solidFill>
              </a:rPr>
              <a:t>. Уберем из модели. В остальном все хорошо, VIF не </a:t>
            </a:r>
            <a:r>
              <a:rPr lang="ru-RU" dirty="0" err="1">
                <a:solidFill>
                  <a:schemeClr val="dk1"/>
                </a:solidFill>
              </a:rPr>
              <a:t>привышает</a:t>
            </a:r>
            <a:r>
              <a:rPr lang="ru-RU" dirty="0">
                <a:solidFill>
                  <a:schemeClr val="dk1"/>
                </a:solidFill>
              </a:rPr>
              <a:t> 5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130E6D0-A21A-4190-91B8-6AA229D56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4539" y="3633987"/>
            <a:ext cx="2185969" cy="177518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4E0F83F-1DB0-463B-8727-0FFA6C6FED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918" y="4390202"/>
            <a:ext cx="3596723" cy="797218"/>
          </a:xfrm>
          <a:prstGeom prst="rect">
            <a:avLst/>
          </a:prstGeom>
        </p:spPr>
      </p:pic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138F5998-A485-4C12-B953-71A33D74BE0F}"/>
              </a:ext>
            </a:extLst>
          </p:cNvPr>
          <p:cNvCxnSpPr/>
          <p:nvPr/>
        </p:nvCxnSpPr>
        <p:spPr>
          <a:xfrm>
            <a:off x="4494213" y="2695849"/>
            <a:ext cx="0" cy="3789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39642F4D-A9A7-473E-9C85-55F5B7A7C581}"/>
              </a:ext>
            </a:extLst>
          </p:cNvPr>
          <p:cNvCxnSpPr/>
          <p:nvPr/>
        </p:nvCxnSpPr>
        <p:spPr>
          <a:xfrm>
            <a:off x="8460624" y="2626992"/>
            <a:ext cx="0" cy="3789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D09E249-9D72-48A6-AB2B-50C01CAFAA10}"/>
              </a:ext>
            </a:extLst>
          </p:cNvPr>
          <p:cNvSpPr txBox="1"/>
          <p:nvPr/>
        </p:nvSpPr>
        <p:spPr>
          <a:xfrm>
            <a:off x="4681503" y="2266836"/>
            <a:ext cx="2643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dk1"/>
                </a:solidFill>
              </a:rPr>
              <a:t>Тест </a:t>
            </a:r>
            <a:r>
              <a:rPr lang="ru-RU" dirty="0" err="1">
                <a:solidFill>
                  <a:schemeClr val="dk1"/>
                </a:solidFill>
              </a:rPr>
              <a:t>Бройша</a:t>
            </a:r>
            <a:r>
              <a:rPr lang="ru-RU" dirty="0">
                <a:solidFill>
                  <a:schemeClr val="dk1"/>
                </a:solidFill>
              </a:rPr>
              <a:t>–</a:t>
            </a:r>
            <a:r>
              <a:rPr lang="ru-RU" dirty="0" err="1">
                <a:solidFill>
                  <a:schemeClr val="dk1"/>
                </a:solidFill>
              </a:rPr>
              <a:t>Пагана</a:t>
            </a:r>
            <a:endParaRPr lang="ru-RU" dirty="0">
              <a:solidFill>
                <a:schemeClr val="dk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C15E55-3BC4-4017-8E91-F691D035BAC7}"/>
              </a:ext>
            </a:extLst>
          </p:cNvPr>
          <p:cNvSpPr txBox="1"/>
          <p:nvPr/>
        </p:nvSpPr>
        <p:spPr>
          <a:xfrm>
            <a:off x="4681503" y="2682188"/>
            <a:ext cx="356541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dk1"/>
                </a:solidFill>
              </a:rPr>
              <a:t>Значение p-</a:t>
            </a:r>
            <a:r>
              <a:rPr lang="ru-RU" dirty="0" err="1">
                <a:solidFill>
                  <a:schemeClr val="dk1"/>
                </a:solidFill>
              </a:rPr>
              <a:t>value</a:t>
            </a:r>
            <a:r>
              <a:rPr lang="ru-RU" dirty="0">
                <a:solidFill>
                  <a:schemeClr val="dk1"/>
                </a:solidFill>
              </a:rPr>
              <a:t> для этой статистики составляет 5.0738e-06, что значительно меньше стандартного порога 0.05 или даже 0.01. Это означает, что нулевая гипотеза о гомоскедастичности остатков отвергается с высокой степенью достоверности.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5AAF3A-1BE2-454A-891C-625D6CB64EAD}"/>
              </a:ext>
            </a:extLst>
          </p:cNvPr>
          <p:cNvSpPr txBox="1"/>
          <p:nvPr/>
        </p:nvSpPr>
        <p:spPr>
          <a:xfrm>
            <a:off x="8586547" y="2695849"/>
            <a:ext cx="333674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dk1"/>
                </a:solidFill>
              </a:rPr>
              <a:t>Значение коэффициента </a:t>
            </a:r>
            <a:r>
              <a:rPr lang="ru-RU" dirty="0" err="1">
                <a:solidFill>
                  <a:schemeClr val="dk1"/>
                </a:solidFill>
              </a:rPr>
              <a:t>Дарбина</a:t>
            </a:r>
            <a:r>
              <a:rPr lang="ru-RU" dirty="0">
                <a:solidFill>
                  <a:schemeClr val="dk1"/>
                </a:solidFill>
              </a:rPr>
              <a:t>-Уотсона составляет примерно 2.10, что очень близко к 2. Это означает, что отсутствует автокорреляция остатков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044D6B-FADD-1433-0FB7-E263A4C85388}"/>
              </a:ext>
            </a:extLst>
          </p:cNvPr>
          <p:cNvSpPr txBox="1"/>
          <p:nvPr/>
        </p:nvSpPr>
        <p:spPr>
          <a:xfrm>
            <a:off x="3411058" y="471805"/>
            <a:ext cx="22571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dk1"/>
                </a:solidFill>
              </a:rPr>
              <a:t>Построение регрессионной модели для цены автомобилей в Америке</a:t>
            </a:r>
          </a:p>
        </p:txBody>
      </p:sp>
    </p:spTree>
    <p:extLst>
      <p:ext uri="{BB962C8B-B14F-4D97-AF65-F5344CB8AC3E}">
        <p14:creationId xmlns:p14="http://schemas.microsoft.com/office/powerpoint/2010/main" val="3277132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1600"/>
            </a:pPr>
            <a:r>
              <a:rPr lang="ru-RU" dirty="0"/>
              <a:t>Мировая экономика и мировая политика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2CE83D-2E4C-47BB-A463-93512F3A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63" y="1199300"/>
            <a:ext cx="3527351" cy="777025"/>
          </a:xfrm>
        </p:spPr>
        <p:txBody>
          <a:bodyPr>
            <a:normAutofit/>
          </a:bodyPr>
          <a:lstStyle/>
          <a:p>
            <a:r>
              <a:rPr lang="ru-RU" dirty="0"/>
              <a:t>Построение регрессии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BE2AFF3-6FAC-417A-99A9-58A2973C56EA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81343" y="496168"/>
            <a:ext cx="2070100" cy="408109"/>
          </a:xfrm>
        </p:spPr>
        <p:txBody>
          <a:bodyPr/>
          <a:lstStyle/>
          <a:p>
            <a:r>
              <a:rPr lang="ru-RU" dirty="0"/>
              <a:t>Визуализация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2F0D5F-973C-4708-9B70-017FBC4FCAED}"/>
              </a:ext>
            </a:extLst>
          </p:cNvPr>
          <p:cNvSpPr txBox="1"/>
          <p:nvPr/>
        </p:nvSpPr>
        <p:spPr>
          <a:xfrm>
            <a:off x="548824" y="1663274"/>
            <a:ext cx="27959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800" dirty="0" err="1">
                <a:solidFill>
                  <a:schemeClr val="dk1"/>
                </a:solidFill>
              </a:rPr>
              <a:t>Symboling</a:t>
            </a:r>
            <a:endParaRPr lang="ru-RU" sz="1800" dirty="0">
              <a:solidFill>
                <a:schemeClr val="dk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dk1"/>
                </a:solidFill>
              </a:rPr>
              <a:t>wheelbase</a:t>
            </a:r>
          </a:p>
          <a:p>
            <a:pPr marL="285750" indent="-285750">
              <a:buFontTx/>
              <a:buChar char="-"/>
            </a:pPr>
            <a:r>
              <a:rPr lang="en-US" sz="1800" dirty="0" err="1">
                <a:solidFill>
                  <a:schemeClr val="dk1"/>
                </a:solidFill>
              </a:rPr>
              <a:t>enginetype_num_dohc</a:t>
            </a:r>
            <a:endParaRPr lang="en-US" sz="1800" dirty="0">
              <a:solidFill>
                <a:schemeClr val="dk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800" dirty="0" err="1">
                <a:solidFill>
                  <a:schemeClr val="dk1"/>
                </a:solidFill>
              </a:rPr>
              <a:t>enginetype_num_l</a:t>
            </a:r>
            <a:endParaRPr lang="en-US" sz="1800" dirty="0">
              <a:solidFill>
                <a:schemeClr val="dk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800" dirty="0" err="1">
                <a:solidFill>
                  <a:schemeClr val="dk1"/>
                </a:solidFill>
              </a:rPr>
              <a:t>enginetype_num_ohc</a:t>
            </a:r>
            <a:endParaRPr lang="en-US" sz="1800" dirty="0">
              <a:solidFill>
                <a:schemeClr val="dk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dk1"/>
                </a:solidFill>
              </a:rPr>
              <a:t>fuelsystem_num_2bbl</a:t>
            </a:r>
          </a:p>
          <a:p>
            <a:pPr marL="285750" indent="-285750">
              <a:buFontTx/>
              <a:buChar char="-"/>
            </a:pPr>
            <a:endParaRPr lang="en-US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4BCCCF-D62A-4FED-B500-E44577EE7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985" y="1381570"/>
            <a:ext cx="4843961" cy="51747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19F91C-EA5B-E885-DF87-8C2F8CB91300}"/>
              </a:ext>
            </a:extLst>
          </p:cNvPr>
          <p:cNvSpPr txBox="1"/>
          <p:nvPr/>
        </p:nvSpPr>
        <p:spPr>
          <a:xfrm>
            <a:off x="3411058" y="471805"/>
            <a:ext cx="22571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dk1"/>
                </a:solidFill>
              </a:rPr>
              <a:t>Построение регрессионной модели для цены автомобилей в Америке</a:t>
            </a:r>
          </a:p>
        </p:txBody>
      </p:sp>
    </p:spTree>
    <p:extLst>
      <p:ext uri="{BB962C8B-B14F-4D97-AF65-F5344CB8AC3E}">
        <p14:creationId xmlns:p14="http://schemas.microsoft.com/office/powerpoint/2010/main" val="2628082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1600"/>
            </a:pPr>
            <a:r>
              <a:rPr lang="ru-RU" dirty="0"/>
              <a:t>Мировая экономика и мировая политика</a:t>
            </a:r>
          </a:p>
        </p:txBody>
      </p:sp>
      <p:sp>
        <p:nvSpPr>
          <p:cNvPr id="204" name="Google Shape;204;p16"/>
          <p:cNvSpPr txBox="1">
            <a:spLocks noGrp="1"/>
          </p:cNvSpPr>
          <p:nvPr>
            <p:ph type="body" idx="4"/>
          </p:nvPr>
        </p:nvSpPr>
        <p:spPr>
          <a:xfrm>
            <a:off x="6202108" y="540904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None/>
            </a:pPr>
            <a:r>
              <a:rPr lang="ru-RU" dirty="0">
                <a:solidFill>
                  <a:schemeClr val="dk1"/>
                </a:solidFill>
              </a:rPr>
              <a:t>Методология исследования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endParaRPr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057CEB-9D59-4F72-994F-E56EC4D3F4C7}"/>
              </a:ext>
            </a:extLst>
          </p:cNvPr>
          <p:cNvSpPr txBox="1"/>
          <p:nvPr/>
        </p:nvSpPr>
        <p:spPr>
          <a:xfrm>
            <a:off x="902625" y="2385616"/>
            <a:ext cx="102548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dk1"/>
                </a:solidFill>
              </a:rPr>
              <a:t>1. Размер двигателя очень сильно влияет на формирование цены, корреляция между </a:t>
            </a:r>
            <a:r>
              <a:rPr lang="ru-RU" sz="2000" dirty="0" err="1">
                <a:solidFill>
                  <a:schemeClr val="dk1"/>
                </a:solidFill>
              </a:rPr>
              <a:t>enginesize</a:t>
            </a:r>
            <a:r>
              <a:rPr lang="ru-RU" sz="2000" dirty="0">
                <a:solidFill>
                  <a:schemeClr val="dk1"/>
                </a:solidFill>
              </a:rPr>
              <a:t> и </a:t>
            </a:r>
            <a:r>
              <a:rPr lang="ru-RU" sz="2000" dirty="0" err="1">
                <a:solidFill>
                  <a:schemeClr val="dk1"/>
                </a:solidFill>
              </a:rPr>
              <a:t>log_price</a:t>
            </a:r>
            <a:r>
              <a:rPr lang="ru-RU" sz="2000" dirty="0">
                <a:solidFill>
                  <a:schemeClr val="dk1"/>
                </a:solidFill>
              </a:rPr>
              <a:t> 0.885593</a:t>
            </a:r>
          </a:p>
          <a:p>
            <a:r>
              <a:rPr lang="ru-RU" sz="2000" dirty="0">
                <a:solidFill>
                  <a:schemeClr val="dk1"/>
                </a:solidFill>
              </a:rPr>
              <a:t>2. Автомобили с полным приводом имеют в среднем 93.375,что меньше лошадиной силы чем заднеприводные 133.58, однако больше чем </a:t>
            </a:r>
            <a:r>
              <a:rPr lang="ru-RU" sz="2000" dirty="0" err="1">
                <a:solidFill>
                  <a:schemeClr val="dk1"/>
                </a:solidFill>
              </a:rPr>
              <a:t>передне</a:t>
            </a:r>
            <a:r>
              <a:rPr lang="ru-RU" sz="2000" dirty="0">
                <a:solidFill>
                  <a:schemeClr val="dk1"/>
                </a:solidFill>
              </a:rPr>
              <a:t> приводные 86.05</a:t>
            </a:r>
          </a:p>
          <a:p>
            <a:r>
              <a:rPr lang="ru-RU" sz="2000" dirty="0">
                <a:solidFill>
                  <a:schemeClr val="dk1"/>
                </a:solidFill>
              </a:rPr>
              <a:t>3. С увеличением объема двигателя расход топлива (</a:t>
            </a:r>
            <a:r>
              <a:rPr lang="ru-RU" sz="2000" dirty="0" err="1">
                <a:solidFill>
                  <a:schemeClr val="dk1"/>
                </a:solidFill>
              </a:rPr>
              <a:t>citympg</a:t>
            </a:r>
            <a:r>
              <a:rPr lang="ru-RU" sz="2000" dirty="0">
                <a:solidFill>
                  <a:schemeClr val="dk1"/>
                </a:solidFill>
              </a:rPr>
              <a:t>) увеличивается. Корреляция между признаками составляет -0.6841, что говорит об обратной линейной зависимости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FF40C0-7B1D-4F5C-8542-002531C7C994}"/>
              </a:ext>
            </a:extLst>
          </p:cNvPr>
          <p:cNvSpPr txBox="1"/>
          <p:nvPr/>
        </p:nvSpPr>
        <p:spPr>
          <a:xfrm>
            <a:off x="367887" y="1570071"/>
            <a:ext cx="60939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dk1"/>
                </a:solidFill>
              </a:rPr>
              <a:t>Ответы на гипотезы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F40B39-9DE5-5763-EE84-7FBC08A079FA}"/>
              </a:ext>
            </a:extLst>
          </p:cNvPr>
          <p:cNvSpPr txBox="1"/>
          <p:nvPr/>
        </p:nvSpPr>
        <p:spPr>
          <a:xfrm>
            <a:off x="3339076" y="476478"/>
            <a:ext cx="22571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dk1"/>
                </a:solidFill>
              </a:rPr>
              <a:t>Построение регрессионной модели для цены автомобилей в Америке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1600"/>
            </a:pPr>
            <a:r>
              <a:rPr lang="ru-RU" dirty="0"/>
              <a:t>Мировая экономика и мировая политика</a:t>
            </a:r>
          </a:p>
        </p:txBody>
      </p:sp>
      <p:sp>
        <p:nvSpPr>
          <p:cNvPr id="211" name="Google Shape;211;p17"/>
          <p:cNvSpPr txBox="1">
            <a:spLocks noGrp="1"/>
          </p:cNvSpPr>
          <p:nvPr>
            <p:ph type="body" idx="4"/>
          </p:nvPr>
        </p:nvSpPr>
        <p:spPr>
          <a:xfrm>
            <a:off x="6276474" y="525401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None/>
            </a:pPr>
            <a:r>
              <a:rPr lang="ru-RU" dirty="0">
                <a:solidFill>
                  <a:schemeClr val="dk1"/>
                </a:solidFill>
              </a:rPr>
              <a:t>Методология исследования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endParaRPr sz="1100" dirty="0"/>
          </a:p>
        </p:txBody>
      </p:sp>
      <p:sp>
        <p:nvSpPr>
          <p:cNvPr id="212" name="Google Shape;212;p17"/>
          <p:cNvSpPr txBox="1"/>
          <p:nvPr/>
        </p:nvSpPr>
        <p:spPr>
          <a:xfrm>
            <a:off x="1427574" y="2448021"/>
            <a:ext cx="9697800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</a:rPr>
              <a:t>Исследование влияния различных автомобильных характеристик на расход топлива, цену и другие параметры может иметь значительные практические применения в различных аспектах бизнеса, управления и стратегического планирования. Это может включать в себя разработку продукта и формирование его цены, применение в ритейл сфере, то есть проверка машин, которые по прайсу будут стоять больше чем предложил продавец. Также возможно применение в </a:t>
            </a:r>
            <a:r>
              <a:rPr lang="ru-RU" sz="1800" dirty="0" err="1">
                <a:solidFill>
                  <a:schemeClr val="dk1"/>
                </a:solidFill>
              </a:rPr>
              <a:t>таргет</a:t>
            </a:r>
            <a:r>
              <a:rPr lang="ru-RU" sz="1800" dirty="0">
                <a:solidFill>
                  <a:schemeClr val="dk1"/>
                </a:solidFill>
              </a:rPr>
              <a:t>, то есть понимание того, какие характеристики автомобиля наиболее ценятся в разных сегментах рынка, что позволяет компаниям разрабатывать маркетинговые стратегии, нацеленные на конкретные потребительские группы.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A9CC47-99A5-437C-8E03-EC257D5B2430}"/>
              </a:ext>
            </a:extLst>
          </p:cNvPr>
          <p:cNvSpPr txBox="1"/>
          <p:nvPr/>
        </p:nvSpPr>
        <p:spPr>
          <a:xfrm>
            <a:off x="506504" y="159844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dk1"/>
                </a:solidFill>
              </a:rPr>
              <a:t>Применение в бизнесе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DFB6D-7E11-7A0B-D0FB-F44E91464BAD}"/>
              </a:ext>
            </a:extLst>
          </p:cNvPr>
          <p:cNvSpPr txBox="1"/>
          <p:nvPr/>
        </p:nvSpPr>
        <p:spPr>
          <a:xfrm>
            <a:off x="3411058" y="471805"/>
            <a:ext cx="22571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dk1"/>
                </a:solidFill>
              </a:rPr>
              <a:t>Построение регрессионной модели для цены автомобилей в Америке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756</Words>
  <Application>Microsoft Office PowerPoint</Application>
  <PresentationFormat>Widescreen</PresentationFormat>
  <Paragraphs>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Построение регрессионной модели для цены автомобилей в Америке</vt:lpstr>
      <vt:lpstr>Описательные статистики</vt:lpstr>
      <vt:lpstr>Гипотезы</vt:lpstr>
      <vt:lpstr>Корреляция</vt:lpstr>
      <vt:lpstr>Визуализация данных</vt:lpstr>
      <vt:lpstr>Гистограммы некоторых параметров</vt:lpstr>
      <vt:lpstr>Работа с качественными данными</vt:lpstr>
      <vt:lpstr>Построение регрессии</vt:lpstr>
      <vt:lpstr>Проверка качества модели</vt:lpstr>
      <vt:lpstr>Построение регрессии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Построение регрессионной модели для цены автомобилей в Америке</dc:title>
  <dc:creator>User</dc:creator>
  <cp:lastModifiedBy>gop lop</cp:lastModifiedBy>
  <cp:revision>5</cp:revision>
  <dcterms:modified xsi:type="dcterms:W3CDTF">2026-04-23T09:01:00Z</dcterms:modified>
</cp:coreProperties>
</file>